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58" r:id="rId9"/>
    <p:sldId id="265" r:id="rId10"/>
    <p:sldId id="266" r:id="rId11"/>
    <p:sldId id="267" r:id="rId12"/>
    <p:sldId id="268" r:id="rId13"/>
    <p:sldId id="259" r:id="rId14"/>
    <p:sldId id="264" r:id="rId15"/>
    <p:sldId id="260" r:id="rId16"/>
    <p:sldId id="261" r:id="rId17"/>
    <p:sldId id="262" r:id="rId18"/>
    <p:sldId id="26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7D189B7-D1B0-0267-847F-8171F4CA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>
            <a:extLst>
              <a:ext uri="{FF2B5EF4-FFF2-40B4-BE49-F238E27FC236}">
                <a16:creationId xmlns:a16="http://schemas.microsoft.com/office/drawing/2014/main" id="{10086B71-C026-E9F3-3E56-B7DB75CFB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>
            <a:extLst>
              <a:ext uri="{FF2B5EF4-FFF2-40B4-BE49-F238E27FC236}">
                <a16:creationId xmlns:a16="http://schemas.microsoft.com/office/drawing/2014/main" id="{D04270F1-47FF-3BD5-8E0E-E6F3C25A0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115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182C44D-2ACB-650B-EE2D-AB122D282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>
            <a:extLst>
              <a:ext uri="{FF2B5EF4-FFF2-40B4-BE49-F238E27FC236}">
                <a16:creationId xmlns:a16="http://schemas.microsoft.com/office/drawing/2014/main" id="{FEEDBF15-5F2F-8550-1D13-8EF198C17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>
            <a:extLst>
              <a:ext uri="{FF2B5EF4-FFF2-40B4-BE49-F238E27FC236}">
                <a16:creationId xmlns:a16="http://schemas.microsoft.com/office/drawing/2014/main" id="{36D232B0-CC3B-6526-1997-9978754879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730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96460EA-0BB2-E122-FAD2-ACC63A83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>
            <a:extLst>
              <a:ext uri="{FF2B5EF4-FFF2-40B4-BE49-F238E27FC236}">
                <a16:creationId xmlns:a16="http://schemas.microsoft.com/office/drawing/2014/main" id="{A1B5A847-03C2-45B3-6730-C59E4CC72F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>
            <a:extLst>
              <a:ext uri="{FF2B5EF4-FFF2-40B4-BE49-F238E27FC236}">
                <a16:creationId xmlns:a16="http://schemas.microsoft.com/office/drawing/2014/main" id="{932390D8-DF96-C348-48F0-B38A5C1B7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039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E1B65ADB-FF11-1C6B-C6D8-A9BE58DF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>
            <a:extLst>
              <a:ext uri="{FF2B5EF4-FFF2-40B4-BE49-F238E27FC236}">
                <a16:creationId xmlns:a16="http://schemas.microsoft.com/office/drawing/2014/main" id="{6B2AE0B7-68EF-0079-4D3D-80A77E3E7D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>
            <a:extLst>
              <a:ext uri="{FF2B5EF4-FFF2-40B4-BE49-F238E27FC236}">
                <a16:creationId xmlns:a16="http://schemas.microsoft.com/office/drawing/2014/main" id="{284FC9B6-55FF-19A3-4A50-58ABBDD91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54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4AAD02F-A672-3312-B787-FEFB3DF07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df5837ef2_0_0:notes">
            <a:extLst>
              <a:ext uri="{FF2B5EF4-FFF2-40B4-BE49-F238E27FC236}">
                <a16:creationId xmlns:a16="http://schemas.microsoft.com/office/drawing/2014/main" id="{3FA51F89-8A13-D03C-D5A4-A9E0D0316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df5837ef2_0_0:notes">
            <a:extLst>
              <a:ext uri="{FF2B5EF4-FFF2-40B4-BE49-F238E27FC236}">
                <a16:creationId xmlns:a16="http://schemas.microsoft.com/office/drawing/2014/main" id="{7E5A4789-2707-6FE5-4EA5-51E83DD276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5339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B54750-069D-5D0B-C37C-582F03C6E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8969DC20-D88C-0511-AD1F-2FBE6A3D8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97B356C6-11E1-E546-900B-B090F5D82E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74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FF1861E-9CBA-247E-2A25-892CC1F8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C89C5658-25D0-EFD0-EDC3-57802B8425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6E52B0FF-9A1F-5789-6DAA-2531250B4E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91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172B3C-1CA5-C295-7A5C-A1F251A33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ACB66052-444C-A72F-7220-1172E8F23E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DC20A055-825E-2BBE-843A-812600E307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162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BABF2A7-8CB1-575D-88FF-04BEE6153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824b25c245_0_0:notes">
            <a:extLst>
              <a:ext uri="{FF2B5EF4-FFF2-40B4-BE49-F238E27FC236}">
                <a16:creationId xmlns:a16="http://schemas.microsoft.com/office/drawing/2014/main" id="{191E0886-EE7E-D759-CAC5-A0C554B8F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824b25c245_0_0:notes">
            <a:extLst>
              <a:ext uri="{FF2B5EF4-FFF2-40B4-BE49-F238E27FC236}">
                <a16:creationId xmlns:a16="http://schemas.microsoft.com/office/drawing/2014/main" id="{FD8A55B7-9A95-F73C-7BE3-02C7A334A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9186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df5837ef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df5837ef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7F2D1602-9942-F704-E77A-0426C4A9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df5837ef2_0_5:notes">
            <a:extLst>
              <a:ext uri="{FF2B5EF4-FFF2-40B4-BE49-F238E27FC236}">
                <a16:creationId xmlns:a16="http://schemas.microsoft.com/office/drawing/2014/main" id="{238033AF-B8DA-E33C-C80B-45F81AF9B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df5837ef2_0_5:notes">
            <a:extLst>
              <a:ext uri="{FF2B5EF4-FFF2-40B4-BE49-F238E27FC236}">
                <a16:creationId xmlns:a16="http://schemas.microsoft.com/office/drawing/2014/main" id="{906A643E-A51B-046F-BDAC-261D63AF9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6729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df5837ef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df5837ef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df5837ef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df5837ef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4df5837ef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4df5837ef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4df5837ef2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4df5837ef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UJ4qNQq3BXg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habit-forge-final-project.onrender.com/" TargetMode="External"/><Relationship Id="rId4" Type="http://schemas.openxmlformats.org/officeDocument/2006/relationships/hyperlink" Target="https://github.com/aniketnandi/Habit-Forge/tree/final-project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6031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Habit Forge</a:t>
            </a:r>
            <a:br>
              <a:rPr lang="en" dirty="0"/>
            </a:br>
            <a:r>
              <a:rPr lang="en-IN" sz="2400" dirty="0"/>
              <a:t>CS 5610 - Web Development</a:t>
            </a:r>
            <a:endParaRPr sz="24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0089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chemeClr val="hlink"/>
                </a:solidFill>
              </a:rPr>
              <a:t>Final Project: Iterating your full stack application with design, accessibility and usability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Aniket Nandi (002598522)</a:t>
            </a:r>
          </a:p>
          <a:p>
            <a:pPr marL="0" indent="0"/>
            <a:r>
              <a:rPr lang="en-IN" dirty="0"/>
              <a:t>Neil Wang (002375301)</a:t>
            </a: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3000" y="4324438"/>
            <a:ext cx="2058424" cy="6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Build a full-stack habit tracking app with Node.js, Express, MongoDB, and React with Hooks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Allow users to create habits, log completions, and track streaks and weekly completion percentages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Support analytics with sort, filter by date range, and personal weekly goal targets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Incorporate design principles, accessibility standards, and usability improvements based on participant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973A4CB-DCBC-0B32-8462-9899C7BB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EE2EAE7-BBE7-37E6-F857-D3DB0A6A2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Lighthouse Report Dashboard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482E83-A24C-DDE8-112F-CA9D199E1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7" y="1085926"/>
            <a:ext cx="7790985" cy="354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0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DD5A7EC9-BDD7-8D52-B8AF-9E9E34F6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8948BF9-9033-F082-65DF-F5FFF300D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Lighthouse Report Analytics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CBF4F-0783-33E3-CF72-A45D71827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70" y="1131241"/>
            <a:ext cx="8155259" cy="373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0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DCF9890A-B359-CCD3-A088-9753AB834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0492359-545A-84DD-5D24-8AF99B8858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Lighthouse Report Log View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93512-C131-8897-BEA9-7B12DB86D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6" y="1233370"/>
            <a:ext cx="7939668" cy="36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1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72E719D4-D265-0059-631C-E6D1A088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82C3B109-4325-DEB5-C9E3-4C4C7751D8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Lighthouse Report Habit Form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6A6A9-A05F-DA7C-1BF5-A471A1D6F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48" y="1220133"/>
            <a:ext cx="7614103" cy="347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51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8FABDA2-833F-487E-6A25-79424392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604FD59-3461-DB7C-1A69-AB4E67631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Lighthouse Report Login/Register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C94FF-879B-BF77-07A6-06377120A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07" y="1143761"/>
            <a:ext cx="7790985" cy="355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3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sp>
        <p:nvSpPr>
          <p:cNvPr id="2" name="Google Shape;63;p14">
            <a:extLst>
              <a:ext uri="{FF2B5EF4-FFF2-40B4-BE49-F238E27FC236}">
                <a16:creationId xmlns:a16="http://schemas.microsoft.com/office/drawing/2014/main" id="{E3F0B486-C95D-3150-FB3B-243ADB359D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5 screens designed: Dashboard, Add/Edit Habit, Log View, Analytics, Navigation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Wireframes focused on habit cards, log history, and analytics progress bars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React component-based layout with modal overlays and dynamic filtering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1F012-228D-0A26-ECA9-D2058D366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58" y="3053510"/>
            <a:ext cx="6687483" cy="924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A37C38E-1AB4-61F2-F580-0F1B3F612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AE36D3A-DE92-091B-6100-E89C73945A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246B-29A1-F32B-79ED-847A8F3E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42" y="1017725"/>
            <a:ext cx="673511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12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1C8D446-D947-292E-2B9D-1B0C196E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E0D2F87-FD5F-4313-71FB-B75C20002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473CF-BA37-5252-16CF-6FDA569C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128" y="1017725"/>
            <a:ext cx="5153744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20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2F27822-F032-6FE9-0125-303E65B2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50F9874-8CF1-4E49-14C2-8B37FF886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EB2C9-4CD8-DD67-63FB-70CA07BBC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017725"/>
            <a:ext cx="6212095" cy="412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08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74248D7-F55E-A56D-A86A-50284499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C11A44D4-504A-DF73-0760-AAE71BBD86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and Mockups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FF8E8-DCC8-1E7F-1025-9D230C8CD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455" y="1017725"/>
            <a:ext cx="5875089" cy="389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61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Node.js + Express (REST API backend)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MongoDB native driver (3 collections: habits, logs, goals)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React 18 with </a:t>
            </a:r>
            <a:r>
              <a:rPr lang="en-IN" dirty="0" err="1"/>
              <a:t>Hools</a:t>
            </a:r>
            <a:r>
              <a:rPr lang="en-IN" dirty="0"/>
              <a:t> + React Router v6 (client-side rendering)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 err="1"/>
              <a:t>ESLint</a:t>
            </a:r>
            <a:r>
              <a:rPr lang="en-IN" dirty="0"/>
              <a:t> + Prettier + Vite (build tool) + </a:t>
            </a:r>
            <a:r>
              <a:rPr lang="en-IN" dirty="0" err="1"/>
              <a:t>PropTypes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Deployed on Render (backend Web Service + frontend Static Site)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Passport.js + </a:t>
            </a:r>
            <a:r>
              <a:rPr lang="en-IN" dirty="0" err="1"/>
              <a:t>bcrypt</a:t>
            </a:r>
            <a:r>
              <a:rPr lang="en-IN" dirty="0"/>
              <a:t> + express-session (authentication)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Syne + DM Sans (typography pairing)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3483CE52-5F58-2B5C-1F57-63F356C8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0AA5E858-CD0C-6F3C-99DE-7C2DA183A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Makes This Project Different?</a:t>
            </a:r>
            <a:endParaRPr dirty="0"/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85CC995F-BB81-4BC6-9A27-DF1F2A5FFE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Full analytics engine with streak calculation, weekly completion %, and date range filtering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3 MongoDB collections with full CRUD split between both team members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2046 synthetic records with realistic streak patterns, duplicate prevention and batch seeding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100% Lighthouse accessibility score across all pages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Full keyboard navigation with skip-to-content link and Escape key modal support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Usability study with 6 participants informed analytics filter improvements, google </a:t>
            </a:r>
            <a:r>
              <a:rPr lang="en-US" dirty="0" err="1"/>
              <a:t>sso</a:t>
            </a:r>
            <a:r>
              <a:rPr lang="en-US" dirty="0"/>
              <a:t>, and quick-fill log notes</a:t>
            </a:r>
          </a:p>
        </p:txBody>
      </p:sp>
    </p:spTree>
    <p:extLst>
      <p:ext uri="{BB962C8B-B14F-4D97-AF65-F5344CB8AC3E}">
        <p14:creationId xmlns:p14="http://schemas.microsoft.com/office/powerpoint/2010/main" val="490821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are proud of.</a:t>
            </a:r>
            <a:endParaRPr dirty="0"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Clean modular architecture: 12 React components each with own file and CSS, separate route files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Full CRUD on 3 MongoDB collections with proper indexing, validation, and cascade deletes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Deployed on Render with VITE_API_URL environment variable handling for production API calls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Realistic seed data with 2046 logs, streak patterns, duplicate prevention, and MongoDB indexes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100% Lighthouse accessibility score with zero errors or warnings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Typography pairing using Syne display font and DM Sans body font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500" dirty="0"/>
              <a:t>Iterative design improvements driven by usability study findings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struggled the most with</a:t>
            </a:r>
            <a:endParaRPr dirty="0"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 err="1"/>
              <a:t>ESLint</a:t>
            </a:r>
            <a:r>
              <a:rPr lang="en-US" dirty="0"/>
              <a:t> flat config with Prettier plugin on Windows – LF vs CRLF line ending conflicts required .</a:t>
            </a:r>
            <a:r>
              <a:rPr lang="en-US" dirty="0" err="1"/>
              <a:t>gitattributes</a:t>
            </a:r>
            <a:r>
              <a:rPr lang="en-US" dirty="0"/>
              <a:t> fix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Vite proxy only works in development – solved with VITE_API_URL environment variable for production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Merge conflicts from coordinating commits between team members across different machines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Fixing color contrast across teal and orange badge components to meet WCAG AA standards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Project Demo Video - </a:t>
            </a:r>
            <a:r>
              <a:rPr lang="en-IN" dirty="0">
                <a:hlinkClick r:id="rId3"/>
              </a:rPr>
              <a:t>https://youtu.be/UJ4qNQq3BXg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Project GitHub Repo - </a:t>
            </a:r>
            <a:r>
              <a:rPr lang="en-IN" dirty="0">
                <a:hlinkClick r:id="rId4"/>
              </a:rPr>
              <a:t>https://github.com/aniketnandi/Habit-Forge/tree/final-project</a:t>
            </a: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IN" dirty="0"/>
              <a:t>Project Live Site - </a:t>
            </a:r>
            <a:r>
              <a:rPr lang="en-IN" dirty="0">
                <a:hlinkClick r:id="rId5"/>
              </a:rPr>
              <a:t>https://habit-forge-final-project.onrender.com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Takeaways</a:t>
            </a:r>
            <a:endParaRPr dirty="0"/>
          </a:p>
        </p:txBody>
      </p:sp>
      <p:sp>
        <p:nvSpPr>
          <p:cNvPr id="98" name="Google Shape;9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Separate backend concerns early – modular routes and collections make CRUD ownership clear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React with Hooks and component-per-file structure keeps the frontend clean and maintainable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Team coordination matters – always test locally before deploying and coordinate commits carefully to avoid merge conflicts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Design, Usability, </a:t>
            </a:r>
            <a:r>
              <a:rPr lang="en-US"/>
              <a:t>and Accessibility matter!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586</Words>
  <Application>Microsoft Office PowerPoint</Application>
  <PresentationFormat>On-screen Show (16:9)</PresentationFormat>
  <Paragraphs>62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Habit Forge CS 5610 - Web Development</vt:lpstr>
      <vt:lpstr>Objective</vt:lpstr>
      <vt:lpstr>Lighthouse Report Dashboard</vt:lpstr>
      <vt:lpstr>Lighthouse Report Analytics</vt:lpstr>
      <vt:lpstr>Lighthouse Report Log View</vt:lpstr>
      <vt:lpstr>Lighthouse Report Habit Form</vt:lpstr>
      <vt:lpstr>Lighthouse Report Login/Register</vt:lpstr>
      <vt:lpstr>Design and Mockups</vt:lpstr>
      <vt:lpstr>Design and Mockups</vt:lpstr>
      <vt:lpstr>Design and Mockups</vt:lpstr>
      <vt:lpstr>Design and Mockups</vt:lpstr>
      <vt:lpstr>Design and Mockups</vt:lpstr>
      <vt:lpstr>Technologies used</vt:lpstr>
      <vt:lpstr>What Makes This Project Different?</vt:lpstr>
      <vt:lpstr>What we are proud of.</vt:lpstr>
      <vt:lpstr>What we struggled the most with</vt:lpstr>
      <vt:lpstr>Demo</vt:lpstr>
      <vt:lpstr>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a5892</cp:lastModifiedBy>
  <cp:revision>16</cp:revision>
  <dcterms:modified xsi:type="dcterms:W3CDTF">2026-04-21T05:02:45Z</dcterms:modified>
</cp:coreProperties>
</file>