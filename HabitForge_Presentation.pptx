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65" r:id="rId5"/>
    <p:sldId id="266" r:id="rId6"/>
    <p:sldId id="267" r:id="rId7"/>
    <p:sldId id="268" r:id="rId8"/>
    <p:sldId id="269" r:id="rId9"/>
    <p:sldId id="259" r:id="rId10"/>
    <p:sldId id="264" r:id="rId11"/>
    <p:sldId id="260" r:id="rId12"/>
    <p:sldId id="261" r:id="rId13"/>
    <p:sldId id="262" r:id="rId14"/>
    <p:sldId id="263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4df5837e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4df5837ef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9AB54750-069D-5D0B-C37C-582F03C6E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>
            <a:extLst>
              <a:ext uri="{FF2B5EF4-FFF2-40B4-BE49-F238E27FC236}">
                <a16:creationId xmlns:a16="http://schemas.microsoft.com/office/drawing/2014/main" id="{8969DC20-D88C-0511-AD1F-2FBE6A3D8D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>
            <a:extLst>
              <a:ext uri="{FF2B5EF4-FFF2-40B4-BE49-F238E27FC236}">
                <a16:creationId xmlns:a16="http://schemas.microsoft.com/office/drawing/2014/main" id="{97B356C6-11E1-E546-900B-B090F5D82E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48747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FFF1861E-9CBA-247E-2A25-892CC1F8C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>
            <a:extLst>
              <a:ext uri="{FF2B5EF4-FFF2-40B4-BE49-F238E27FC236}">
                <a16:creationId xmlns:a16="http://schemas.microsoft.com/office/drawing/2014/main" id="{C89C5658-25D0-EFD0-EDC3-57802B842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>
            <a:extLst>
              <a:ext uri="{FF2B5EF4-FFF2-40B4-BE49-F238E27FC236}">
                <a16:creationId xmlns:a16="http://schemas.microsoft.com/office/drawing/2014/main" id="{6E52B0FF-9A1F-5789-6DAA-2531250B4E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2918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D6172B3C-1CA5-C295-7A5C-A1F251A33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>
            <a:extLst>
              <a:ext uri="{FF2B5EF4-FFF2-40B4-BE49-F238E27FC236}">
                <a16:creationId xmlns:a16="http://schemas.microsoft.com/office/drawing/2014/main" id="{ACB66052-444C-A72F-7220-1172E8F23E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>
            <a:extLst>
              <a:ext uri="{FF2B5EF4-FFF2-40B4-BE49-F238E27FC236}">
                <a16:creationId xmlns:a16="http://schemas.microsoft.com/office/drawing/2014/main" id="{DC20A055-825E-2BBE-843A-812600E307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51623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FBABF2A7-8CB1-575D-88FF-04BEE6153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>
            <a:extLst>
              <a:ext uri="{FF2B5EF4-FFF2-40B4-BE49-F238E27FC236}">
                <a16:creationId xmlns:a16="http://schemas.microsoft.com/office/drawing/2014/main" id="{191E0886-EE7E-D759-CAC5-A0C554B8F6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>
            <a:extLst>
              <a:ext uri="{FF2B5EF4-FFF2-40B4-BE49-F238E27FC236}">
                <a16:creationId xmlns:a16="http://schemas.microsoft.com/office/drawing/2014/main" id="{FD8A55B7-9A95-F73C-7BE3-02C7A334A5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91869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7E0A5A64-2ABB-F407-0088-ED5CBDC93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824b25c245_0_0:notes">
            <a:extLst>
              <a:ext uri="{FF2B5EF4-FFF2-40B4-BE49-F238E27FC236}">
                <a16:creationId xmlns:a16="http://schemas.microsoft.com/office/drawing/2014/main" id="{CAFC7E4A-8D52-9742-3BFE-8CEDD94D8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824b25c245_0_0:notes">
            <a:extLst>
              <a:ext uri="{FF2B5EF4-FFF2-40B4-BE49-F238E27FC236}">
                <a16:creationId xmlns:a16="http://schemas.microsoft.com/office/drawing/2014/main" id="{7E4BF911-D09B-7487-1086-41E777A530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31276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4df5837ef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4df5837ef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>
          <a:extLst>
            <a:ext uri="{FF2B5EF4-FFF2-40B4-BE49-F238E27FC236}">
              <a16:creationId xmlns:a16="http://schemas.microsoft.com/office/drawing/2014/main" id="{7F2D1602-9942-F704-E77A-0426C4A91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4df5837ef2_0_5:notes">
            <a:extLst>
              <a:ext uri="{FF2B5EF4-FFF2-40B4-BE49-F238E27FC236}">
                <a16:creationId xmlns:a16="http://schemas.microsoft.com/office/drawing/2014/main" id="{238033AF-B8DA-E33C-C80B-45F81AF9B0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4df5837ef2_0_5:notes">
            <a:extLst>
              <a:ext uri="{FF2B5EF4-FFF2-40B4-BE49-F238E27FC236}">
                <a16:creationId xmlns:a16="http://schemas.microsoft.com/office/drawing/2014/main" id="{906A643E-A51B-046F-BDAC-261D63AF94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67290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4df5837ef2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4df5837ef2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4df5837ef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4df5837ef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4df5837ef2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4df5837ef2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4df5837ef2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4df5837ef2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vYcBYF3roz8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habit-forge-fvl4.onrender.com/" TargetMode="External"/><Relationship Id="rId4" Type="http://schemas.openxmlformats.org/officeDocument/2006/relationships/hyperlink" Target="https://github.com/aniketnandi/Habit-Forge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16031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Habit Forge</a:t>
            </a:r>
            <a:br>
              <a:rPr lang="en" dirty="0"/>
            </a:br>
            <a:r>
              <a:rPr lang="en-IN" sz="2400" dirty="0"/>
              <a:t>CS 5610 - Web Development</a:t>
            </a:r>
            <a:endParaRPr sz="2400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008943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 dirty="0">
                <a:solidFill>
                  <a:schemeClr val="hlink"/>
                </a:solidFill>
              </a:rPr>
              <a:t>Project 3: Full stack application with Node + Express + Mongo + React (hooks)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Aniket Nandi (002598522)</a:t>
            </a:r>
          </a:p>
          <a:p>
            <a:pPr marL="0" indent="0"/>
            <a:r>
              <a:rPr lang="en-IN" dirty="0"/>
              <a:t>Neil Wang (002375301)</a:t>
            </a:r>
          </a:p>
        </p:txBody>
      </p:sp>
      <p:pic>
        <p:nvPicPr>
          <p:cNvPr id="57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73000" y="4324438"/>
            <a:ext cx="2058424" cy="675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Objective</a:t>
            </a:r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Build a full-stack habit tracking app with Node.js, Express, MongoDB, and React with Hooks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Allow users to create habits, log completions, and track streaks and weekly completion percentages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Support analytics with sort, filter by date range, and personal weekly goal targets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Support user authentication with register and login so each user's habits are private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sp>
        <p:nvSpPr>
          <p:cNvPr id="2" name="Google Shape;63;p14">
            <a:extLst>
              <a:ext uri="{FF2B5EF4-FFF2-40B4-BE49-F238E27FC236}">
                <a16:creationId xmlns:a16="http://schemas.microsoft.com/office/drawing/2014/main" id="{E3F0B486-C95D-3150-FB3B-243ADB359D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5 screens designed: Dashboard, Add/Edit Habit, Log View, Analytics, Navigation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Mockups focused on habit cards, log history, and analytics progress bars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React component-based layout with modal overlays and dynamic filtering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9724CB-A395-9695-83C1-7D64B2B57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863" y="2968834"/>
            <a:ext cx="7154273" cy="885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3A37C38E-1AB4-61F2-F580-0F1B3F612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BAE36D3A-DE92-091B-6100-E89C73945A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30246B-29A1-F32B-79ED-847A8F3EA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442" y="1017725"/>
            <a:ext cx="6735115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212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A1C8D446-D947-292E-2B9D-1B0C196E8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4E0D2F87-FD5F-4313-71FB-B75C20002A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2473CF-BA37-5252-16CF-6FDA569C4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128" y="1017725"/>
            <a:ext cx="5153744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420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12F27822-F032-6FE9-0125-303E65B25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850F9874-8CF1-4E49-14C2-8B37FF8864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AEB2C9-4CD8-DD67-63FB-70CA07BBC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" y="1017725"/>
            <a:ext cx="6212095" cy="4120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308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474248D7-F55E-A56D-A86A-50284499E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C11A44D4-504A-DF73-0760-AAE71BBD86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8FF8E8-DCC8-1E7F-1025-9D230C8CD7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455" y="1017725"/>
            <a:ext cx="5875089" cy="3890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261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60BDBCAA-92D8-943B-C616-06D0E8FA9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5648964D-2377-2937-C9EE-7A1E588091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and Mockups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0A6669-3E3C-DBA3-FF79-FCAC96335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46" y="1017725"/>
            <a:ext cx="3645254" cy="39905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BA91ECA-AE3F-2A29-2198-80A3967F3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1203" y="997014"/>
            <a:ext cx="3645254" cy="401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27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Technologies used</a:t>
            </a:r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Node.js + Express (REST API backend)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MongoDB native driver (4 collections: habits, logs, goals, users)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React 18 </a:t>
            </a:r>
            <a:r>
              <a:rPr lang="en-IN"/>
              <a:t>with Hooks </a:t>
            </a:r>
            <a:r>
              <a:rPr lang="en-IN" dirty="0"/>
              <a:t>+ React Router v6 (client-side rendering)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 err="1"/>
              <a:t>ESLint</a:t>
            </a:r>
            <a:r>
              <a:rPr lang="en-IN" dirty="0"/>
              <a:t> + Prettier + Vite (build tool) + </a:t>
            </a:r>
            <a:r>
              <a:rPr lang="en-IN" dirty="0" err="1"/>
              <a:t>PropTypes</a:t>
            </a: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Deployed on Render (backend Web Service + frontend Static Site)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Passport.js + </a:t>
            </a:r>
            <a:r>
              <a:rPr lang="en-IN" dirty="0" err="1"/>
              <a:t>bcrypt</a:t>
            </a:r>
            <a:r>
              <a:rPr lang="en-IN" dirty="0"/>
              <a:t> + express-session (authentication)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>
          <a:extLst>
            <a:ext uri="{FF2B5EF4-FFF2-40B4-BE49-F238E27FC236}">
              <a16:creationId xmlns:a16="http://schemas.microsoft.com/office/drawing/2014/main" id="{3483CE52-5F58-2B5C-1F57-63F356C8C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>
            <a:extLst>
              <a:ext uri="{FF2B5EF4-FFF2-40B4-BE49-F238E27FC236}">
                <a16:creationId xmlns:a16="http://schemas.microsoft.com/office/drawing/2014/main" id="{0AA5E858-CD0C-6F3C-99DE-7C2DA183AF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Makes This Project Different?</a:t>
            </a:r>
            <a:endParaRPr dirty="0"/>
          </a:p>
        </p:txBody>
      </p:sp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85CC995F-BB81-4BC6-9A27-DF1F2A5FFE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Full analytics engine with streak calculation, weekly completion %, and date range filtering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3 MongoDB collections with full CRUD split between both team members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2046 synthetic records with realistic streak patterns, duplicate prevention and batch seeding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Per-user data isolation - each user only sees their own habits, logs, and goals via Passport session auth (except </a:t>
            </a:r>
            <a:r>
              <a:rPr lang="en-US" dirty="0" err="1"/>
              <a:t>testuser</a:t>
            </a:r>
            <a:r>
              <a:rPr lang="en-US" dirty="0"/>
              <a:t> which has all 1000+ seeded data)</a:t>
            </a:r>
          </a:p>
        </p:txBody>
      </p:sp>
    </p:spTree>
    <p:extLst>
      <p:ext uri="{BB962C8B-B14F-4D97-AF65-F5344CB8AC3E}">
        <p14:creationId xmlns:p14="http://schemas.microsoft.com/office/powerpoint/2010/main" val="490821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we are proud of.</a:t>
            </a:r>
            <a:endParaRPr dirty="0"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>
            <a:off x="311700" y="1003794"/>
            <a:ext cx="8520600" cy="39910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Clean modular architecture: 12 React components each with own file and CSS, separate route files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Full CRUD on 3 MongoDB collections with proper indexing, validation, and cascade deletes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Deployed on Render with VITE_API_URL environment variable handling for production API calls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Realistic seed data with 2046 logs, streak patterns, duplicate prevention, and MongoDB indexes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Full Passport.js authentication with session cookies, </a:t>
            </a:r>
            <a:r>
              <a:rPr lang="en-US" dirty="0" err="1"/>
              <a:t>bcrypt</a:t>
            </a:r>
            <a:r>
              <a:rPr lang="en-US" dirty="0"/>
              <a:t> password hashing, and protected API routes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we struggled the most with</a:t>
            </a:r>
            <a:endParaRPr dirty="0"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 err="1"/>
              <a:t>ESLint</a:t>
            </a:r>
            <a:r>
              <a:rPr lang="en-US" dirty="0"/>
              <a:t> flat config with Prettier plugin on Windows – LF vs CRLF line ending conflicts required .</a:t>
            </a:r>
            <a:r>
              <a:rPr lang="en-US" dirty="0" err="1"/>
              <a:t>gitattributes</a:t>
            </a:r>
            <a:r>
              <a:rPr lang="en-US" dirty="0"/>
              <a:t> fix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Vite proxy only works in development – solved with VITE_API_URL environment variable for production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Merge conflicts from coordinating commits between team members across different machines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dirty="0"/>
              <a:t>Implementing Passport local strategy with session cookies across separate frontend and backend deployments on Render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dirty="0"/>
              <a:t>Project Demo Video - </a:t>
            </a:r>
            <a:r>
              <a:rPr lang="en-IN" dirty="0">
                <a:hlinkClick r:id="rId3"/>
              </a:rPr>
              <a:t>https://youtu.be/vYcBYF3roz8</a:t>
            </a: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Project GitHub Repo - </a:t>
            </a:r>
            <a:r>
              <a:rPr lang="en-IN" dirty="0">
                <a:hlinkClick r:id="rId4"/>
              </a:rPr>
              <a:t>https://github.com/aniketnandi/Habit-Forge</a:t>
            </a: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IN" dirty="0"/>
              <a:t>Project Live Site - </a:t>
            </a:r>
            <a:r>
              <a:rPr lang="en-IN" dirty="0">
                <a:hlinkClick r:id="rId5"/>
              </a:rPr>
              <a:t>https://habit-forge-fvl4.onrender.com</a:t>
            </a:r>
            <a:endParaRPr lang="en-IN"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lang="en-IN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Takeaways</a:t>
            </a:r>
            <a:endParaRPr dirty="0"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Separate backend concerns early – modular routes and collections make CRUD ownership clear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React with Hooks and component-per-file structure keeps the frontend clean and maintainable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Team coordination matters – always test locally before deploying and coordinate commits carefully to avoid </a:t>
            </a:r>
            <a:r>
              <a:rPr lang="en-US"/>
              <a:t>merge conflicts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538</Words>
  <Application>Microsoft Office PowerPoint</Application>
  <PresentationFormat>On-screen Show (16:9)</PresentationFormat>
  <Paragraphs>52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Simple Light</vt:lpstr>
      <vt:lpstr>Habit Forge CS 5610 - Web Development</vt:lpstr>
      <vt:lpstr>Objective</vt:lpstr>
      <vt:lpstr>Design and Mockups</vt:lpstr>
      <vt:lpstr>Design and Mockups</vt:lpstr>
      <vt:lpstr>Design and Mockups</vt:lpstr>
      <vt:lpstr>Design and Mockups</vt:lpstr>
      <vt:lpstr>Design and Mockups</vt:lpstr>
      <vt:lpstr>Design and Mockups</vt:lpstr>
      <vt:lpstr>Technologies used</vt:lpstr>
      <vt:lpstr>What Makes This Project Different?</vt:lpstr>
      <vt:lpstr>What we are proud of.</vt:lpstr>
      <vt:lpstr>What we struggled the most with</vt:lpstr>
      <vt:lpstr>Demo</vt:lpstr>
      <vt:lpstr>Takeaways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a5892</cp:lastModifiedBy>
  <cp:revision>17</cp:revision>
  <dcterms:modified xsi:type="dcterms:W3CDTF">2026-03-19T15:24:13Z</dcterms:modified>
</cp:coreProperties>
</file>